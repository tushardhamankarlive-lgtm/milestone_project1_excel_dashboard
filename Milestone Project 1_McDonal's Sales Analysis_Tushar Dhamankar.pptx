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9"/>
  </p:notes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FD6B6-3AF5-4AC4-9B7E-B8C8C23F1A7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2E03D-69A2-40E2-86E3-1E96A7B95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98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E03D-69A2-40E2-86E3-1E96A7B95EC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20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0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5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8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15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7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7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3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9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5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9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3852B-5883-7F63-9770-5ADC38B77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67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D84D32-CC23-A9DA-EA8B-CB38FA05954E}"/>
              </a:ext>
            </a:extLst>
          </p:cNvPr>
          <p:cNvSpPr txBox="1"/>
          <p:nvPr/>
        </p:nvSpPr>
        <p:spPr>
          <a:xfrm>
            <a:off x="-108858" y="915925"/>
            <a:ext cx="773974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>
                <a:latin typeface="+mj-lt"/>
              </a:rPr>
              <a:t>McD</a:t>
            </a:r>
            <a:r>
              <a:rPr lang="en-IN" sz="11500" b="1" dirty="0">
                <a:solidFill>
                  <a:srgbClr val="FFC000"/>
                </a:solidFill>
                <a:latin typeface="+mj-lt"/>
              </a:rPr>
              <a:t>onal’s</a:t>
            </a:r>
            <a:endParaRPr lang="en-IN" sz="36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1ED99-3890-D5F3-3130-A8B8F79BBCC4}"/>
              </a:ext>
            </a:extLst>
          </p:cNvPr>
          <p:cNvSpPr txBox="1"/>
          <p:nvPr/>
        </p:nvSpPr>
        <p:spPr>
          <a:xfrm>
            <a:off x="283028" y="3886962"/>
            <a:ext cx="773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91662-2F86-C1A5-A77F-2BE08B10FB4F}"/>
              </a:ext>
            </a:extLst>
          </p:cNvPr>
          <p:cNvSpPr txBox="1"/>
          <p:nvPr/>
        </p:nvSpPr>
        <p:spPr>
          <a:xfrm>
            <a:off x="7453995" y="1846949"/>
            <a:ext cx="48468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solidFill>
                  <a:srgbClr val="FFC000"/>
                </a:solidFill>
                <a:latin typeface="+mj-lt"/>
              </a:rPr>
              <a:t>Sales Performance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EA4829-3DBF-A00B-3525-0F1D74808299}"/>
              </a:ext>
            </a:extLst>
          </p:cNvPr>
          <p:cNvSpPr txBox="1"/>
          <p:nvPr/>
        </p:nvSpPr>
        <p:spPr>
          <a:xfrm>
            <a:off x="3306537" y="5794682"/>
            <a:ext cx="5380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  <a:latin typeface="+mj-lt"/>
              </a:rPr>
              <a:t>Presented by</a:t>
            </a:r>
            <a:br>
              <a:rPr lang="en-IN" sz="2000" b="1" dirty="0">
                <a:solidFill>
                  <a:srgbClr val="FFC000"/>
                </a:solidFill>
                <a:latin typeface="+mj-lt"/>
              </a:rPr>
            </a:br>
            <a:r>
              <a:rPr lang="en-IN" sz="2000" b="1" dirty="0">
                <a:solidFill>
                  <a:srgbClr val="FFC000"/>
                </a:solidFill>
                <a:latin typeface="+mj-lt"/>
              </a:rPr>
              <a:t>    Tushar Dhamankar - Cohort 11</a:t>
            </a:r>
          </a:p>
        </p:txBody>
      </p:sp>
    </p:spTree>
    <p:extLst>
      <p:ext uri="{BB962C8B-B14F-4D97-AF65-F5344CB8AC3E}">
        <p14:creationId xmlns:p14="http://schemas.microsoft.com/office/powerpoint/2010/main" val="131918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F344CC-3FA9-3730-3680-9C9569E9B653}"/>
              </a:ext>
            </a:extLst>
          </p:cNvPr>
          <p:cNvSpPr txBox="1"/>
          <p:nvPr/>
        </p:nvSpPr>
        <p:spPr>
          <a:xfrm>
            <a:off x="1214695" y="136976"/>
            <a:ext cx="8592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/>
              <a:t>McDonald’s Sales Insights Dashboard</a:t>
            </a:r>
            <a:endParaRPr lang="en-IN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4F1827-9EB5-DB1A-0D4F-DF67AB68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301"/>
            <a:ext cx="12192000" cy="528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4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908742-5F0E-BC68-6260-5651FD760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0" y="533094"/>
            <a:ext cx="8139794" cy="915012"/>
          </a:xfrm>
          <a:prstGeom prst="rect">
            <a:avLst/>
          </a:prstGeom>
        </p:spPr>
      </p:pic>
      <p:pic>
        <p:nvPicPr>
          <p:cNvPr id="19" name="Picture 18" descr="McDonald's Home">
            <a:extLst>
              <a:ext uri="{FF2B5EF4-FFF2-40B4-BE49-F238E27FC236}">
                <a16:creationId xmlns:a16="http://schemas.microsoft.com/office/drawing/2014/main" id="{7CEA0960-AA71-BD51-2BAE-54393EEC4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0" y="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5764D67-8A12-8F31-E31A-ADF1C890CE51}"/>
              </a:ext>
            </a:extLst>
          </p:cNvPr>
          <p:cNvSpPr txBox="1"/>
          <p:nvPr/>
        </p:nvSpPr>
        <p:spPr>
          <a:xfrm>
            <a:off x="119743" y="698212"/>
            <a:ext cx="4496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+mj-lt"/>
              </a:rPr>
              <a:t>Overall Performance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77607F-268D-D1AB-96A6-6751010F0140}"/>
              </a:ext>
            </a:extLst>
          </p:cNvPr>
          <p:cNvSpPr txBox="1"/>
          <p:nvPr/>
        </p:nvSpPr>
        <p:spPr>
          <a:xfrm>
            <a:off x="77560" y="1689284"/>
            <a:ext cx="1095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Total Revenue: $61,003.78 | Total Orders: 5,370 | Average Order Value: $11.36</a:t>
            </a:r>
            <a:endParaRPr lang="en-IN" sz="2400" dirty="0">
              <a:latin typeface="Abadi" panose="020B06040201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F9DC6B-BB12-E075-D67B-7558F1865A45}"/>
              </a:ext>
            </a:extLst>
          </p:cNvPr>
          <p:cNvSpPr txBox="1"/>
          <p:nvPr/>
        </p:nvSpPr>
        <p:spPr>
          <a:xfrm>
            <a:off x="1321626" y="2895906"/>
            <a:ext cx="1658246" cy="533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Insights</a:t>
            </a:r>
            <a:endParaRPr lang="en-IN" sz="2800" dirty="0">
              <a:latin typeface="Comic Sans MS" panose="030F0702030302020204" pitchFamily="66" charset="0"/>
            </a:endParaRPr>
          </a:p>
        </p:txBody>
      </p: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9ACE868E-9455-43D9-C800-8216640CA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712" y="2754086"/>
            <a:ext cx="674914" cy="6749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60A38E5-5E37-EE8F-4082-DCA9D628DAD2}"/>
              </a:ext>
            </a:extLst>
          </p:cNvPr>
          <p:cNvSpPr txBox="1"/>
          <p:nvPr/>
        </p:nvSpPr>
        <p:spPr>
          <a:xfrm>
            <a:off x="1321626" y="3505200"/>
            <a:ext cx="58595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Each customer spends ~$11 per visit.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Revenue is stable across Jan–Mar (~$20K each month).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Business is consistent, not highly volatile.</a:t>
            </a:r>
          </a:p>
          <a:p>
            <a:endParaRPr lang="en-IN" sz="2000" dirty="0">
              <a:latin typeface="Comic Sans MS" panose="030F0702030302020204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DF3554-7847-26C2-2B72-844975FF5362}"/>
              </a:ext>
            </a:extLst>
          </p:cNvPr>
          <p:cNvSpPr txBox="1"/>
          <p:nvPr/>
        </p:nvSpPr>
        <p:spPr>
          <a:xfrm>
            <a:off x="77560" y="5370799"/>
            <a:ext cx="70407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During the January–March period, the business generated $61K in revenue from 5,370 orders, maintaining a steady monthly average of ~$20K. The consistent Average Order Value of $11.36 indicates stable customer spending behavior and predictable sales performance.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DE83CC-A069-8CC0-039E-F28D4C32A36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7181151" y="2669281"/>
            <a:ext cx="501084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27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FB729-F0C5-9356-5B67-8EC36797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1EA0499-03E1-7CDD-273B-4C4B701CC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76A020-1B8C-E50E-4532-0695F527D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0" y="533094"/>
            <a:ext cx="8139794" cy="91501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5F8A661-2233-F2ED-B9AE-ECDD895CFA92}"/>
              </a:ext>
            </a:extLst>
          </p:cNvPr>
          <p:cNvSpPr txBox="1"/>
          <p:nvPr/>
        </p:nvSpPr>
        <p:spPr>
          <a:xfrm>
            <a:off x="108855" y="698212"/>
            <a:ext cx="5827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+mj-lt"/>
              </a:rPr>
              <a:t>Revenue &amp; Volume Leaders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CA7B7F-FB45-FF33-6618-2A7FB5A66D70}"/>
              </a:ext>
            </a:extLst>
          </p:cNvPr>
          <p:cNvSpPr txBox="1"/>
          <p:nvPr/>
        </p:nvSpPr>
        <p:spPr>
          <a:xfrm>
            <a:off x="77560" y="1414149"/>
            <a:ext cx="52237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Abadi" panose="020B0604020104020204" pitchFamily="34" charset="0"/>
              </a:rPr>
              <a:t>Revenue Leader</a:t>
            </a:r>
            <a:br>
              <a:rPr lang="en-IN" sz="2200" dirty="0">
                <a:latin typeface="Abadi" panose="020B0604020104020204" pitchFamily="34" charset="0"/>
              </a:rPr>
            </a:b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Burger Category</a:t>
            </a:r>
          </a:p>
          <a:p>
            <a:r>
              <a:rPr lang="en-US" sz="2200" dirty="0">
                <a:latin typeface="Abadi" panose="020B0604020104020204" pitchFamily="34" charset="0"/>
              </a:rPr>
              <a:t>$21,459.99 (~35% of total revenue)</a:t>
            </a:r>
            <a:endParaRPr lang="en-IN" sz="2200" dirty="0">
              <a:latin typeface="Abadi" panose="020B06040201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20973F-0F1E-DBBF-F007-A191FB471A28}"/>
              </a:ext>
            </a:extLst>
          </p:cNvPr>
          <p:cNvSpPr txBox="1"/>
          <p:nvPr/>
        </p:nvSpPr>
        <p:spPr>
          <a:xfrm>
            <a:off x="1321626" y="2895906"/>
            <a:ext cx="1658246" cy="533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Insights</a:t>
            </a:r>
            <a:endParaRPr lang="en-IN" sz="2800" dirty="0">
              <a:latin typeface="Comic Sans MS" panose="030F0702030302020204" pitchFamily="66" charset="0"/>
            </a:endParaRPr>
          </a:p>
        </p:txBody>
      </p: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F1E51332-D813-9A36-3FB6-45AEBB95B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712" y="2754086"/>
            <a:ext cx="674914" cy="6749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F93DEC9-5708-6C9F-0CE5-93A9898547A4}"/>
              </a:ext>
            </a:extLst>
          </p:cNvPr>
          <p:cNvSpPr txBox="1"/>
          <p:nvPr/>
        </p:nvSpPr>
        <p:spPr>
          <a:xfrm>
            <a:off x="1321626" y="3505200"/>
            <a:ext cx="615686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The Burger category is the primary revenue engine, contributing ~35% of total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Big Mac drives the highest order volume within this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Revenue leadership and volume leadership are aligned — making burgers both the traffic driver and profit anchor.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Strategic pricing, bundling, and promotions in this category will have the highest overall business impact.</a:t>
            </a:r>
          </a:p>
          <a:p>
            <a:endParaRPr lang="en-IN" sz="1700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86539-E6A9-3A9A-CB7B-1D7FA5C39BB7}"/>
              </a:ext>
            </a:extLst>
          </p:cNvPr>
          <p:cNvSpPr txBox="1"/>
          <p:nvPr/>
        </p:nvSpPr>
        <p:spPr>
          <a:xfrm>
            <a:off x="77560" y="6111031"/>
            <a:ext cx="7040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Burgers drive both revenue and demand, making them the core growth engine of the business.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74751-2B04-AF3B-B36C-D26B99601401}"/>
              </a:ext>
            </a:extLst>
          </p:cNvPr>
          <p:cNvSpPr txBox="1"/>
          <p:nvPr/>
        </p:nvSpPr>
        <p:spPr>
          <a:xfrm>
            <a:off x="5128532" y="1421084"/>
            <a:ext cx="52237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Abadi" panose="020B0604020104020204" pitchFamily="34" charset="0"/>
              </a:rPr>
              <a:t>Volume Leader</a:t>
            </a:r>
            <a:br>
              <a:rPr lang="en-IN" sz="2200" dirty="0">
                <a:latin typeface="Abadi" panose="020B0604020104020204" pitchFamily="34" charset="0"/>
              </a:rPr>
            </a:b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Big Mac</a:t>
            </a:r>
          </a:p>
          <a:p>
            <a:r>
              <a:rPr lang="en-US" sz="2200" dirty="0">
                <a:latin typeface="Abadi" panose="020B0604020104020204" pitchFamily="34" charset="0"/>
              </a:rPr>
              <a:t>622 Orders</a:t>
            </a:r>
            <a:endParaRPr lang="en-IN" sz="2200" dirty="0"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21156-1448-D57A-2649-65129150549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181151" y="2669281"/>
            <a:ext cx="5010849" cy="4115374"/>
          </a:xfrm>
          <a:prstGeom prst="rect">
            <a:avLst/>
          </a:prstGeom>
        </p:spPr>
      </p:pic>
      <p:pic>
        <p:nvPicPr>
          <p:cNvPr id="5" name="Picture 4" descr="McDonald's Home">
            <a:extLst>
              <a:ext uri="{FF2B5EF4-FFF2-40B4-BE49-F238E27FC236}">
                <a16:creationId xmlns:a16="http://schemas.microsoft.com/office/drawing/2014/main" id="{2763939D-24C8-E178-BEEF-F0FCA243B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0" y="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47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3EB58-8B83-D0B7-560C-9605CA88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923BF90-8031-AA9D-AB91-BC0040C90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238E3F-398D-EF6D-7667-F151BFA18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0" y="533094"/>
            <a:ext cx="8139794" cy="91501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A707B3F-026C-7822-D97F-9730D77DC6F7}"/>
              </a:ext>
            </a:extLst>
          </p:cNvPr>
          <p:cNvSpPr txBox="1"/>
          <p:nvPr/>
        </p:nvSpPr>
        <p:spPr>
          <a:xfrm>
            <a:off x="141513" y="698212"/>
            <a:ext cx="6968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+mj-lt"/>
              </a:rPr>
              <a:t>Order Timing &amp; Demand Concentration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DF6142-5803-5645-C974-D37319C9F96C}"/>
              </a:ext>
            </a:extLst>
          </p:cNvPr>
          <p:cNvSpPr txBox="1"/>
          <p:nvPr/>
        </p:nvSpPr>
        <p:spPr>
          <a:xfrm>
            <a:off x="77560" y="1689284"/>
            <a:ext cx="9815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Peak Hour (12–1 PM) | Time Distribution (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Afternoon 47%</a:t>
            </a:r>
            <a:r>
              <a:rPr lang="en-US" sz="2400" dirty="0">
                <a:latin typeface="Abadi" panose="020B0604020104020204" pitchFamily="34" charset="0"/>
              </a:rPr>
              <a:t>, Evening 40%)</a:t>
            </a:r>
            <a:endParaRPr lang="en-IN" sz="2400" dirty="0">
              <a:latin typeface="Abadi" panose="020B06040201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DABC01-F441-943F-742C-B299B6C2EAD6}"/>
              </a:ext>
            </a:extLst>
          </p:cNvPr>
          <p:cNvSpPr txBox="1"/>
          <p:nvPr/>
        </p:nvSpPr>
        <p:spPr>
          <a:xfrm>
            <a:off x="1321626" y="2895906"/>
            <a:ext cx="1658246" cy="533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Insights</a:t>
            </a:r>
            <a:endParaRPr lang="en-IN" sz="2800" dirty="0">
              <a:latin typeface="Comic Sans MS" panose="030F0702030302020204" pitchFamily="66" charset="0"/>
            </a:endParaRPr>
          </a:p>
        </p:txBody>
      </p: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6F71F824-397E-E8CC-56A6-7E233C47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712" y="2754086"/>
            <a:ext cx="674914" cy="6749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60A45E5-686E-35EF-9C3D-914F09B7454D}"/>
              </a:ext>
            </a:extLst>
          </p:cNvPr>
          <p:cNvSpPr txBox="1"/>
          <p:nvPr/>
        </p:nvSpPr>
        <p:spPr>
          <a:xfrm>
            <a:off x="1321626" y="3505200"/>
            <a:ext cx="608066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Peak demand occurs between 12 PM – 1 PM, marking lunch as the highest-pressure window.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87% of total orders come from Afternoon + Evening, showing strong post-noon concentration.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Operations, staffing, and inventory planning should prioritize lunch and afternoon hours.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omic Sans MS" panose="030F0702030302020204" pitchFamily="66" charset="0"/>
              </a:rPr>
              <a:t>Morning contributes only 5%, indicating untapped opportunity for breakfast promotions.</a:t>
            </a:r>
          </a:p>
          <a:p>
            <a:endParaRPr lang="en-IN" sz="1700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63CB62-7AEE-6596-6C04-B2B912105852}"/>
              </a:ext>
            </a:extLst>
          </p:cNvPr>
          <p:cNvSpPr txBox="1"/>
          <p:nvPr/>
        </p:nvSpPr>
        <p:spPr>
          <a:xfrm>
            <a:off x="77560" y="5980403"/>
            <a:ext cx="7040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Demand peaks at lunch and remains concentrated post-noon.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C4666-71D2-0F8F-380A-B15CCD36469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181151" y="2669281"/>
            <a:ext cx="5010849" cy="4115374"/>
          </a:xfrm>
          <a:prstGeom prst="rect">
            <a:avLst/>
          </a:prstGeom>
        </p:spPr>
      </p:pic>
      <p:pic>
        <p:nvPicPr>
          <p:cNvPr id="4" name="Picture 3" descr="McDonald's Home">
            <a:extLst>
              <a:ext uri="{FF2B5EF4-FFF2-40B4-BE49-F238E27FC236}">
                <a16:creationId xmlns:a16="http://schemas.microsoft.com/office/drawing/2014/main" id="{A3338F38-6CB5-BE54-E7DB-63E5E51D0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0" y="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47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E3131-268E-3D82-64A5-A2AB084F2523}"/>
              </a:ext>
            </a:extLst>
          </p:cNvPr>
          <p:cNvSpPr txBox="1"/>
          <p:nvPr/>
        </p:nvSpPr>
        <p:spPr>
          <a:xfrm>
            <a:off x="141513" y="698212"/>
            <a:ext cx="6514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+mj-lt"/>
              </a:rPr>
              <a:t>Business Growth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68E57-B604-D80C-4D41-480E5B02B496}"/>
              </a:ext>
            </a:extLst>
          </p:cNvPr>
          <p:cNvSpPr txBox="1"/>
          <p:nvPr/>
        </p:nvSpPr>
        <p:spPr>
          <a:xfrm>
            <a:off x="141513" y="1221431"/>
            <a:ext cx="116912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+mj-lt"/>
              </a:rPr>
              <a:t>Maximize Burger Category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Introduce premium burger variants (higher margin)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Limited-time burger flavors to boost repeat visits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Slight price optimization testing (1–2% increase)</a:t>
            </a:r>
          </a:p>
          <a:p>
            <a:pPr lvl="1"/>
            <a:endParaRPr lang="en-IN" sz="16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+mj-lt"/>
              </a:rPr>
              <a:t>Leverage Big Mac as a Traffic Magnet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Bundle Big Mac with fries + drink (increase AOV)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Upsell add-ons during checkout</a:t>
            </a:r>
          </a:p>
          <a:p>
            <a:pPr lvl="1"/>
            <a:endParaRPr lang="en-IN" sz="16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+mj-lt"/>
              </a:rPr>
              <a:t>Optimize Peak Hour Operations (12–1 PM)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Increase staffing during 12–2 PM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Pre-prep fast-moving items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Fast-lane service or express counter</a:t>
            </a:r>
          </a:p>
          <a:p>
            <a:pPr lvl="1"/>
            <a:endParaRPr lang="en-IN" sz="16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+mj-lt"/>
              </a:rPr>
              <a:t>Drive Morning Sales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Breakfast combos at discounted pricing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Coffee + sandwich bundles with Limited-time morning-only offers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16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+mj-lt"/>
              </a:rPr>
              <a:t>Strengthen Afternoon &amp; Evening Monetization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Combo upselling during afternoon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Family meal deals for evening</a:t>
            </a:r>
            <a:endParaRPr lang="en-IN" sz="1600" dirty="0">
              <a:latin typeface="+mj-lt"/>
            </a:endParaRPr>
          </a:p>
        </p:txBody>
      </p:sp>
      <p:pic>
        <p:nvPicPr>
          <p:cNvPr id="5" name="Picture 4" descr="McDonald's Home">
            <a:extLst>
              <a:ext uri="{FF2B5EF4-FFF2-40B4-BE49-F238E27FC236}">
                <a16:creationId xmlns:a16="http://schemas.microsoft.com/office/drawing/2014/main" id="{E86ED98A-13FD-542C-F50E-B4D4DE7FD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0" y="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23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22428-BBDD-28CE-5F37-02B6048A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1FAD63-9797-5FC1-E0AE-4C9AB49EB0A9}"/>
              </a:ext>
            </a:extLst>
          </p:cNvPr>
          <p:cNvSpPr txBox="1"/>
          <p:nvPr/>
        </p:nvSpPr>
        <p:spPr>
          <a:xfrm>
            <a:off x="183678" y="2449750"/>
            <a:ext cx="11736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</a:rPr>
              <a:t>Growth will come from maximizing burger monetization, </a:t>
            </a:r>
            <a:br>
              <a:rPr lang="en-US" sz="2800" b="1" dirty="0">
                <a:latin typeface="+mj-lt"/>
              </a:rPr>
            </a:br>
            <a:r>
              <a:rPr lang="en-US" sz="2800" b="1" dirty="0">
                <a:latin typeface="+mj-lt"/>
              </a:rPr>
              <a:t>improving peak-hour efficiency and unlocking underutilized morning demand.</a:t>
            </a:r>
            <a:br>
              <a:rPr lang="en-US" sz="2800" b="1" dirty="0">
                <a:latin typeface="+mj-lt"/>
              </a:rPr>
            </a:br>
            <a:br>
              <a:rPr lang="en-US" sz="2800" b="1" dirty="0">
                <a:latin typeface="+mj-lt"/>
              </a:rPr>
            </a:br>
            <a:br>
              <a:rPr lang="en-US" sz="2800" b="1" dirty="0">
                <a:latin typeface="+mj-lt"/>
              </a:rPr>
            </a:br>
            <a:r>
              <a:rPr lang="en-US" sz="2800" b="1" dirty="0">
                <a:latin typeface="+mj-lt"/>
              </a:rPr>
              <a:t>Thank You</a:t>
            </a:r>
            <a:endParaRPr lang="en-IN" sz="2800" b="1" dirty="0">
              <a:latin typeface="+mj-lt"/>
            </a:endParaRPr>
          </a:p>
        </p:txBody>
      </p:sp>
      <p:pic>
        <p:nvPicPr>
          <p:cNvPr id="5" name="Picture 4" descr="McDonald's Home">
            <a:extLst>
              <a:ext uri="{FF2B5EF4-FFF2-40B4-BE49-F238E27FC236}">
                <a16:creationId xmlns:a16="http://schemas.microsoft.com/office/drawing/2014/main" id="{CEC4C6BB-05AF-7839-52E5-BF31C5C95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0" y="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Burger and drink with solid fill">
            <a:extLst>
              <a:ext uri="{FF2B5EF4-FFF2-40B4-BE49-F238E27FC236}">
                <a16:creationId xmlns:a16="http://schemas.microsoft.com/office/drawing/2014/main" id="{6D3B55AD-E682-412F-4425-ECFACE7E1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7903" y="5127406"/>
            <a:ext cx="816194" cy="81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8400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434</Words>
  <Application>Microsoft Office PowerPoint</Application>
  <PresentationFormat>Widescreen</PresentationFormat>
  <Paragraphs>54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Abadi</vt:lpstr>
      <vt:lpstr>Aptos</vt:lpstr>
      <vt:lpstr>Arial</vt:lpstr>
      <vt:lpstr>Comic Sans MS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Dhamankar</dc:creator>
  <cp:lastModifiedBy>Tushar Dhamankar</cp:lastModifiedBy>
  <cp:revision>39</cp:revision>
  <dcterms:created xsi:type="dcterms:W3CDTF">2026-03-01T14:09:27Z</dcterms:created>
  <dcterms:modified xsi:type="dcterms:W3CDTF">2026-03-07T12:17:52Z</dcterms:modified>
</cp:coreProperties>
</file>